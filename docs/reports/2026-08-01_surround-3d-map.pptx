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338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3000" b="1">
                <a:solidFill>
                  <a:srgbClr val="1A1A1A"/>
                </a:solidFill>
                <a:latin typeface="맑은 고딕"/>
              </a:rPr>
              <a:t>Depth 카메라 6대 기반 AMR 주변 3D 서라운드 맵</a:t>
            </a:r>
          </a:p>
          <a:p>
            <a:pPr>
              <a:spcBef>
                <a:spcPts val="400"/>
              </a:spcBef>
            </a:pPr>
            <a:r>
              <a:rPr sz="1300" b="0">
                <a:solidFill>
                  <a:srgbClr val="6B6B6B"/>
                </a:solidFill>
                <a:latin typeface="맑은 고딕"/>
              </a:rPr>
              <a:t>실기 구동 결과 · Big-AMR · 2026-08-01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11338560" cy="952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viz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7086600" cy="45556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45352"/>
            <a:ext cx="7086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6B6B6B"/>
                </a:solidFill>
                <a:latin typeface="맑은 고딕"/>
              </a:rPr>
              <a:t>RViz2 실시간 화면 — 색상 보셀: 실사 RGB 3D 점유맵 / 주황: 360° 가상 스캔 / 바닥면 점: 분리 발행된 ground 레이어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600200"/>
            <a:ext cx="397763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1F6FB2"/>
                </a:solidFill>
                <a:latin typeface="맑은 고딕"/>
              </a:rPr>
              <a:t>구성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카메라 6대 · 방위 60° 등간격 배치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수평시야 79° → 인접 19° 겹침, 사각 0°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depth 640×480, base_link 기준 융합</a:t>
            </a:r>
          </a:p>
          <a:p>
            <a:pPr>
              <a:spcBef>
                <a:spcPts val="300"/>
              </a:spcBef>
            </a:pPr>
            <a:r>
              <a:rPr sz="1150" b="0">
                <a:solidFill>
                  <a:srgbClr val="1A1A1A"/>
                </a:solidFill>
                <a:latin typeface="맑은 고딕"/>
              </a:rPr>
              <a:t>· 전·후면 하향 12° / 측면 수평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8120" y="2999232"/>
            <a:ext cx="3977639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1F6FB2"/>
                </a:solidFill>
                <a:latin typeface="맑은 고딕"/>
              </a:rPr>
              <a:t>실측 성능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6B6B6B"/>
                </a:solidFill>
                <a:latin typeface="맑은 고딕"/>
              </a:rPr>
              <a:t>융합 주기  </a:t>
            </a:r>
            <a:r>
              <a:rPr sz="1150" b="1">
                <a:solidFill>
                  <a:srgbClr val="1A1A1A"/>
                </a:solidFill>
                <a:latin typeface="맑은 고딕"/>
              </a:rPr>
              <a:t>9.5 ~ 10.0 Hz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6B6B6B"/>
                </a:solidFill>
                <a:latin typeface="맑은 고딕"/>
              </a:rPr>
              <a:t>카메라별 depth  </a:t>
            </a:r>
            <a:r>
              <a:rPr sz="1150" b="1">
                <a:solidFill>
                  <a:srgbClr val="1A1A1A"/>
                </a:solidFill>
                <a:latin typeface="맑은 고딕"/>
              </a:rPr>
              <a:t>10.6 ~ 11.8 fps (합계 66.6)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6B6B6B"/>
                </a:solidFill>
                <a:latin typeface="맑은 고딕"/>
              </a:rPr>
              <a:t>점유 보셀 / 바닥  </a:t>
            </a:r>
            <a:r>
              <a:rPr sz="1150" b="1">
                <a:solidFill>
                  <a:srgbClr val="1A1A1A"/>
                </a:solidFill>
                <a:latin typeface="맑은 고딕"/>
              </a:rPr>
              <a:t>955 / 4,642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6B6B6B"/>
                </a:solidFill>
                <a:latin typeface="맑은 고딕"/>
              </a:rPr>
              <a:t>가상 스캔  </a:t>
            </a:r>
            <a:r>
              <a:rPr sz="1150" b="1">
                <a:solidFill>
                  <a:srgbClr val="1A1A1A"/>
                </a:solidFill>
                <a:latin typeface="맑은 고딕"/>
              </a:rPr>
              <a:t>138 / 360 빈, 1.32 ~ 3.35 m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6B6B6B"/>
                </a:solidFill>
                <a:latin typeface="맑은 고딕"/>
              </a:rPr>
              <a:t>실사 RGB 색  </a:t>
            </a:r>
            <a:r>
              <a:rPr sz="1150" b="1">
                <a:solidFill>
                  <a:srgbClr val="1A1A1A"/>
                </a:solidFill>
                <a:latin typeface="맑은 고딕"/>
              </a:rPr>
              <a:t>99.8 %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6B6B6B"/>
                </a:solidFill>
                <a:latin typeface="맑은 고딕"/>
              </a:rPr>
              <a:t>CPU (융합 / 카메라 6대)  </a:t>
            </a:r>
            <a:r>
              <a:rPr sz="1150" b="1">
                <a:solidFill>
                  <a:srgbClr val="1A1A1A"/>
                </a:solidFill>
                <a:latin typeface="맑은 고딕"/>
              </a:rPr>
              <a:t>13.4 % / 60.8 %</a:t>
            </a:r>
          </a:p>
          <a:p>
            <a:pPr>
              <a:spcBef>
                <a:spcPts val="300"/>
              </a:spcBef>
            </a:pPr>
            <a:r>
              <a:rPr sz="1150">
                <a:solidFill>
                  <a:srgbClr val="6B6B6B"/>
                </a:solidFill>
                <a:latin typeface="맑은 고딕"/>
              </a:rPr>
              <a:t>연속 가동  </a:t>
            </a:r>
            <a:r>
              <a:rPr sz="1150" b="1">
                <a:solidFill>
                  <a:srgbClr val="1A1A1A"/>
                </a:solidFill>
                <a:latin typeface="맑은 고딕"/>
              </a:rPr>
              <a:t>15.7 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5138928"/>
            <a:ext cx="3977639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500" b="1">
                <a:solidFill>
                  <a:srgbClr val="1F6FB2"/>
                </a:solidFill>
                <a:latin typeface="맑은 고딕"/>
              </a:rPr>
              <a:t>산출물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맑은 고딕"/>
              </a:rPr>
              <a:t>· occupancy_points — 3D 점유 보셀 (XYZRGB)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맑은 고딕"/>
              </a:rPr>
              <a:t>· ground_points — 바닥 레이어 (분리 발행)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1A1A1A"/>
                </a:solidFill>
                <a:latin typeface="맑은 고딕"/>
              </a:rPr>
              <a:t>· virtual_scan — 360° LaserScan (기존 2D 소비자 호환)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6245352"/>
            <a:ext cx="39776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1000" b="0">
                <a:solidFill>
                  <a:srgbClr val="B54A1E"/>
                </a:solidFill>
                <a:latin typeface="맑은 고딕"/>
              </a:rPr>
              <a:t>미검증: 주행 중 거동 · 측정 정확도 (정지 상태 실측값임)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